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0" r:id="rId3"/>
    <p:sldId id="261" r:id="rId4"/>
    <p:sldId id="257" r:id="rId5"/>
    <p:sldId id="259" r:id="rId6"/>
    <p:sldId id="258" r:id="rId7"/>
    <p:sldId id="268" r:id="rId8"/>
    <p:sldId id="262" r:id="rId9"/>
    <p:sldId id="263" r:id="rId10"/>
    <p:sldId id="264" r:id="rId11"/>
    <p:sldId id="265" r:id="rId12"/>
    <p:sldId id="266"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a:xfrm>
            <a:off x="5332412" y="5883275"/>
            <a:ext cx="4324044" cy="365125"/>
          </a:xfrm>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69848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a:xfrm>
            <a:off x="10951856" y="5867131"/>
            <a:ext cx="551167" cy="365125"/>
          </a:xfrm>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59778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2160108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75CF5E-BCCF-46AF-A3E8-A02DDC243416}" type="datetimeFigureOut">
              <a:rPr lang="en-ZM" smtClean="0"/>
              <a:t>16/03/2026</a:t>
            </a:fld>
            <a:endParaRPr lang="en-ZM"/>
          </a:p>
        </p:txBody>
      </p:sp>
      <p:sp>
        <p:nvSpPr>
          <p:cNvPr id="6" name="Footer Placeholder 5"/>
          <p:cNvSpPr>
            <a:spLocks noGrp="1"/>
          </p:cNvSpPr>
          <p:nvPr>
            <p:ph type="ftr" sz="quarter" idx="11"/>
          </p:nvPr>
        </p:nvSpPr>
        <p:spPr/>
        <p:txBody>
          <a:bodyPr/>
          <a:lstStyle/>
          <a:p>
            <a:endParaRPr lang="en-ZM"/>
          </a:p>
        </p:txBody>
      </p:sp>
      <p:sp>
        <p:nvSpPr>
          <p:cNvPr id="7" name="Slide Number Placeholder 6"/>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4238063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75CF5E-BCCF-46AF-A3E8-A02DDC243416}" type="datetimeFigureOut">
              <a:rPr lang="en-ZM" smtClean="0"/>
              <a:t>16/03/2026</a:t>
            </a:fld>
            <a:endParaRPr lang="en-ZM"/>
          </a:p>
        </p:txBody>
      </p:sp>
      <p:sp>
        <p:nvSpPr>
          <p:cNvPr id="8" name="Footer Placeholder 7"/>
          <p:cNvSpPr>
            <a:spLocks noGrp="1"/>
          </p:cNvSpPr>
          <p:nvPr>
            <p:ph type="ftr" sz="quarter" idx="11"/>
          </p:nvPr>
        </p:nvSpPr>
        <p:spPr/>
        <p:txBody>
          <a:bodyPr/>
          <a:lstStyle/>
          <a:p>
            <a:endParaRPr lang="en-ZM"/>
          </a:p>
        </p:txBody>
      </p:sp>
      <p:sp>
        <p:nvSpPr>
          <p:cNvPr id="9" name="Slide Number Placeholder 8"/>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592731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75CF5E-BCCF-46AF-A3E8-A02DDC243416}" type="datetimeFigureOut">
              <a:rPr lang="en-ZM" smtClean="0"/>
              <a:t>16/03/2026</a:t>
            </a:fld>
            <a:endParaRPr lang="en-ZM"/>
          </a:p>
        </p:txBody>
      </p:sp>
      <p:sp>
        <p:nvSpPr>
          <p:cNvPr id="4" name="Footer Placeholder 3"/>
          <p:cNvSpPr>
            <a:spLocks noGrp="1"/>
          </p:cNvSpPr>
          <p:nvPr>
            <p:ph type="ftr" sz="quarter" idx="11"/>
          </p:nvPr>
        </p:nvSpPr>
        <p:spPr/>
        <p:txBody>
          <a:bodyPr/>
          <a:lstStyle/>
          <a:p>
            <a:endParaRPr lang="en-ZM"/>
          </a:p>
        </p:txBody>
      </p:sp>
      <p:sp>
        <p:nvSpPr>
          <p:cNvPr id="5" name="Slide Number Placeholder 4"/>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1482257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5CF5E-BCCF-46AF-A3E8-A02DDC243416}" type="datetimeFigureOut">
              <a:rPr lang="en-ZM" smtClean="0"/>
              <a:t>16/03/2026</a:t>
            </a:fld>
            <a:endParaRPr lang="en-ZM"/>
          </a:p>
        </p:txBody>
      </p:sp>
      <p:sp>
        <p:nvSpPr>
          <p:cNvPr id="3" name="Footer Placeholder 2"/>
          <p:cNvSpPr>
            <a:spLocks noGrp="1"/>
          </p:cNvSpPr>
          <p:nvPr>
            <p:ph type="ftr" sz="quarter" idx="11"/>
          </p:nvPr>
        </p:nvSpPr>
        <p:spPr/>
        <p:txBody>
          <a:bodyPr/>
          <a:lstStyle/>
          <a:p>
            <a:endParaRPr lang="en-ZM"/>
          </a:p>
        </p:txBody>
      </p:sp>
      <p:sp>
        <p:nvSpPr>
          <p:cNvPr id="4" name="Slide Number Placeholder 3"/>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62982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5CF5E-BCCF-46AF-A3E8-A02DDC243416}" type="datetimeFigureOut">
              <a:rPr lang="en-ZM" smtClean="0"/>
              <a:t>16/03/2026</a:t>
            </a:fld>
            <a:endParaRPr lang="en-ZM"/>
          </a:p>
        </p:txBody>
      </p:sp>
      <p:sp>
        <p:nvSpPr>
          <p:cNvPr id="6" name="Footer Placeholder 5"/>
          <p:cNvSpPr>
            <a:spLocks noGrp="1"/>
          </p:cNvSpPr>
          <p:nvPr>
            <p:ph type="ftr" sz="quarter" idx="11"/>
          </p:nvPr>
        </p:nvSpPr>
        <p:spPr/>
        <p:txBody>
          <a:bodyPr/>
          <a:lstStyle/>
          <a:p>
            <a:endParaRPr lang="en-ZM"/>
          </a:p>
        </p:txBody>
      </p:sp>
      <p:sp>
        <p:nvSpPr>
          <p:cNvPr id="7" name="Slide Number Placeholder 6"/>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2214852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5CF5E-BCCF-46AF-A3E8-A02DDC243416}" type="datetimeFigureOut">
              <a:rPr lang="en-ZM" smtClean="0"/>
              <a:t>16/03/2026</a:t>
            </a:fld>
            <a:endParaRPr lang="en-ZM"/>
          </a:p>
        </p:txBody>
      </p:sp>
      <p:sp>
        <p:nvSpPr>
          <p:cNvPr id="6" name="Footer Placeholder 5"/>
          <p:cNvSpPr>
            <a:spLocks noGrp="1"/>
          </p:cNvSpPr>
          <p:nvPr>
            <p:ph type="ftr" sz="quarter" idx="11"/>
          </p:nvPr>
        </p:nvSpPr>
        <p:spPr/>
        <p:txBody>
          <a:bodyPr/>
          <a:lstStyle/>
          <a:p>
            <a:endParaRPr lang="en-ZM"/>
          </a:p>
        </p:txBody>
      </p:sp>
      <p:sp>
        <p:nvSpPr>
          <p:cNvPr id="7" name="Slide Number Placeholder 6"/>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134533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5CF5E-BCCF-46AF-A3E8-A02DDC243416}" type="datetimeFigureOut">
              <a:rPr lang="en-ZM" smtClean="0"/>
              <a:t>16/03/2026</a:t>
            </a:fld>
            <a:endParaRPr lang="en-ZM"/>
          </a:p>
        </p:txBody>
      </p:sp>
      <p:sp>
        <p:nvSpPr>
          <p:cNvPr id="6" name="Footer Placeholder 5"/>
          <p:cNvSpPr>
            <a:spLocks noGrp="1"/>
          </p:cNvSpPr>
          <p:nvPr>
            <p:ph type="ftr" sz="quarter" idx="11"/>
          </p:nvPr>
        </p:nvSpPr>
        <p:spPr/>
        <p:txBody>
          <a:bodyPr/>
          <a:lstStyle/>
          <a:p>
            <a:endParaRPr lang="en-ZM"/>
          </a:p>
        </p:txBody>
      </p:sp>
      <p:sp>
        <p:nvSpPr>
          <p:cNvPr id="7" name="Slide Number Placeholder 6"/>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730070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828056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938206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4097447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2933976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158366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4208661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75CF5E-BCCF-46AF-A3E8-A02DDC243416}" type="datetimeFigureOut">
              <a:rPr lang="en-ZM" smtClean="0"/>
              <a:t>16/03/2026</a:t>
            </a:fld>
            <a:endParaRPr lang="en-ZM"/>
          </a:p>
        </p:txBody>
      </p:sp>
      <p:sp>
        <p:nvSpPr>
          <p:cNvPr id="5" name="Footer Placeholder 4"/>
          <p:cNvSpPr>
            <a:spLocks noGrp="1"/>
          </p:cNvSpPr>
          <p:nvPr>
            <p:ph type="ftr" sz="quarter" idx="11"/>
          </p:nvPr>
        </p:nvSpPr>
        <p:spPr/>
        <p:txBody>
          <a:bodyPr/>
          <a:lstStyle/>
          <a:p>
            <a:endParaRPr lang="en-ZM"/>
          </a:p>
        </p:txBody>
      </p:sp>
      <p:sp>
        <p:nvSpPr>
          <p:cNvPr id="6" name="Slide Number Placeholder 5"/>
          <p:cNvSpPr>
            <a:spLocks noGrp="1"/>
          </p:cNvSpPr>
          <p:nvPr>
            <p:ph type="sldNum" sz="quarter" idx="12"/>
          </p:nvPr>
        </p:nvSpPr>
        <p:spPr/>
        <p:txBody>
          <a:bodyPr/>
          <a:lstStyle/>
          <a:p>
            <a:fld id="{C815A1EB-4099-4B9A-AC0B-DBC355FBEFFB}" type="slidenum">
              <a:rPr lang="en-ZM" smtClean="0"/>
              <a:t>‹#›</a:t>
            </a:fld>
            <a:endParaRPr lang="en-ZM"/>
          </a:p>
        </p:txBody>
      </p:sp>
    </p:spTree>
    <p:extLst>
      <p:ext uri="{BB962C8B-B14F-4D97-AF65-F5344CB8AC3E}">
        <p14:creationId xmlns:p14="http://schemas.microsoft.com/office/powerpoint/2010/main" val="383509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975CF5E-BCCF-46AF-A3E8-A02DDC243416}" type="datetimeFigureOut">
              <a:rPr lang="en-ZM" smtClean="0"/>
              <a:t>16/03/2026</a:t>
            </a:fld>
            <a:endParaRPr lang="en-ZM"/>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ZM"/>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815A1EB-4099-4B9A-AC0B-DBC355FBEFFB}" type="slidenum">
              <a:rPr lang="en-ZM" smtClean="0"/>
              <a:t>‹#›</a:t>
            </a:fld>
            <a:endParaRPr lang="en-ZM"/>
          </a:p>
        </p:txBody>
      </p:sp>
    </p:spTree>
    <p:extLst>
      <p:ext uri="{BB962C8B-B14F-4D97-AF65-F5344CB8AC3E}">
        <p14:creationId xmlns:p14="http://schemas.microsoft.com/office/powerpoint/2010/main" val="316268243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yabeblessing@gmail.com%7C"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4799-4D6A-474D-B952-8DDF2FF8A6BB}"/>
              </a:ext>
            </a:extLst>
          </p:cNvPr>
          <p:cNvSpPr>
            <a:spLocks noGrp="1"/>
          </p:cNvSpPr>
          <p:nvPr>
            <p:ph type="ctrTitle"/>
          </p:nvPr>
        </p:nvSpPr>
        <p:spPr/>
        <p:txBody>
          <a:bodyPr/>
          <a:lstStyle/>
          <a:p>
            <a:r>
              <a:rPr lang="en-US" b="1" dirty="0" err="1"/>
              <a:t>AgriPal</a:t>
            </a:r>
            <a:endParaRPr lang="en-ZM" b="1" dirty="0"/>
          </a:p>
        </p:txBody>
      </p:sp>
      <p:sp>
        <p:nvSpPr>
          <p:cNvPr id="3" name="Subtitle 2">
            <a:extLst>
              <a:ext uri="{FF2B5EF4-FFF2-40B4-BE49-F238E27FC236}">
                <a16:creationId xmlns:a16="http://schemas.microsoft.com/office/drawing/2014/main" id="{E3B9E310-854B-42BD-9C9F-CEA511EDDABC}"/>
              </a:ext>
            </a:extLst>
          </p:cNvPr>
          <p:cNvSpPr>
            <a:spLocks noGrp="1"/>
          </p:cNvSpPr>
          <p:nvPr>
            <p:ph type="subTitle" idx="1"/>
          </p:nvPr>
        </p:nvSpPr>
        <p:spPr/>
        <p:txBody>
          <a:bodyPr>
            <a:normAutofit/>
          </a:bodyPr>
          <a:lstStyle/>
          <a:p>
            <a:r>
              <a:rPr lang="en-US" dirty="0"/>
              <a:t>An AI driven farming aide.</a:t>
            </a:r>
          </a:p>
          <a:p>
            <a:r>
              <a:rPr lang="en-US" dirty="0"/>
              <a:t>by Blessing M. Yabe</a:t>
            </a:r>
          </a:p>
          <a:p>
            <a:r>
              <a:rPr lang="en-US" dirty="0">
                <a:hlinkClick r:id="rId2"/>
              </a:rPr>
              <a:t>yabeblessing@gmail.com |</a:t>
            </a:r>
            <a:r>
              <a:rPr lang="en-US" dirty="0"/>
              <a:t> github.com/md1134 | LinkedIn:</a:t>
            </a:r>
            <a:endParaRPr lang="en-ZM" dirty="0"/>
          </a:p>
        </p:txBody>
      </p:sp>
    </p:spTree>
    <p:extLst>
      <p:ext uri="{BB962C8B-B14F-4D97-AF65-F5344CB8AC3E}">
        <p14:creationId xmlns:p14="http://schemas.microsoft.com/office/powerpoint/2010/main" val="88489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2F56-E8A3-421E-8512-43F90376ACD5}"/>
              </a:ext>
            </a:extLst>
          </p:cNvPr>
          <p:cNvSpPr>
            <a:spLocks noGrp="1"/>
          </p:cNvSpPr>
          <p:nvPr>
            <p:ph type="title"/>
          </p:nvPr>
        </p:nvSpPr>
        <p:spPr/>
        <p:txBody>
          <a:bodyPr/>
          <a:lstStyle/>
          <a:p>
            <a:r>
              <a:rPr lang="en-US" b="1" dirty="0"/>
              <a:t>About Me</a:t>
            </a:r>
            <a:endParaRPr lang="en-ZM" b="1" dirty="0"/>
          </a:p>
        </p:txBody>
      </p:sp>
      <p:sp>
        <p:nvSpPr>
          <p:cNvPr id="3" name="Content Placeholder 2">
            <a:extLst>
              <a:ext uri="{FF2B5EF4-FFF2-40B4-BE49-F238E27FC236}">
                <a16:creationId xmlns:a16="http://schemas.microsoft.com/office/drawing/2014/main" id="{311842B2-D48C-4A26-B579-A9D8E2DEAFE5}"/>
              </a:ext>
            </a:extLst>
          </p:cNvPr>
          <p:cNvSpPr>
            <a:spLocks noGrp="1"/>
          </p:cNvSpPr>
          <p:nvPr>
            <p:ph idx="1"/>
          </p:nvPr>
        </p:nvSpPr>
        <p:spPr/>
        <p:txBody>
          <a:bodyPr/>
          <a:lstStyle/>
          <a:p>
            <a:pPr marL="0" indent="0">
              <a:buNone/>
            </a:pPr>
            <a:r>
              <a:rPr lang="en-US" dirty="0"/>
              <a:t>Hi, my name is Blessing Yabe and I am an aspiring Artificial Intelligence </a:t>
            </a:r>
          </a:p>
          <a:p>
            <a:pPr marL="0" indent="0">
              <a:buNone/>
            </a:pPr>
            <a:r>
              <a:rPr lang="en-US" dirty="0"/>
              <a:t>(AI ) Developer. I am familiar with Python, Java, SQL, Django, HTML5 and CSS. I play chess, participate in challenges on </a:t>
            </a:r>
            <a:r>
              <a:rPr lang="en-US" dirty="0" err="1"/>
              <a:t>Goodwall</a:t>
            </a:r>
            <a:r>
              <a:rPr lang="en-US" dirty="0"/>
              <a:t>, am an alumni of the KECTIL Youth Program and like to unwind by reading Psychology and Philosophy articles as well as spending time with friends. </a:t>
            </a:r>
            <a:endParaRPr lang="en-ZM" dirty="0"/>
          </a:p>
        </p:txBody>
      </p:sp>
    </p:spTree>
    <p:extLst>
      <p:ext uri="{BB962C8B-B14F-4D97-AF65-F5344CB8AC3E}">
        <p14:creationId xmlns:p14="http://schemas.microsoft.com/office/powerpoint/2010/main" val="2140034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3F55-1817-495C-8B05-6CA6445BEEB6}"/>
              </a:ext>
            </a:extLst>
          </p:cNvPr>
          <p:cNvSpPr>
            <a:spLocks noGrp="1"/>
          </p:cNvSpPr>
          <p:nvPr>
            <p:ph type="title"/>
          </p:nvPr>
        </p:nvSpPr>
        <p:spPr/>
        <p:txBody>
          <a:bodyPr/>
          <a:lstStyle/>
          <a:p>
            <a:r>
              <a:rPr lang="en-US" b="1" dirty="0"/>
              <a:t>About </a:t>
            </a:r>
            <a:r>
              <a:rPr lang="en-US" b="1" dirty="0" err="1"/>
              <a:t>AgriPal</a:t>
            </a:r>
            <a:endParaRPr lang="en-ZM" b="1" dirty="0"/>
          </a:p>
        </p:txBody>
      </p:sp>
      <p:sp>
        <p:nvSpPr>
          <p:cNvPr id="3" name="Content Placeholder 2">
            <a:extLst>
              <a:ext uri="{FF2B5EF4-FFF2-40B4-BE49-F238E27FC236}">
                <a16:creationId xmlns:a16="http://schemas.microsoft.com/office/drawing/2014/main" id="{7B637014-BDC8-4692-BE31-4FBF43C1EC32}"/>
              </a:ext>
            </a:extLst>
          </p:cNvPr>
          <p:cNvSpPr>
            <a:spLocks noGrp="1"/>
          </p:cNvSpPr>
          <p:nvPr>
            <p:ph idx="1"/>
          </p:nvPr>
        </p:nvSpPr>
        <p:spPr/>
        <p:txBody>
          <a:bodyPr/>
          <a:lstStyle/>
          <a:p>
            <a:pPr marL="0" indent="0">
              <a:buNone/>
            </a:pPr>
            <a:r>
              <a:rPr lang="en-US" dirty="0"/>
              <a:t>Inspired by my inability to properly grow Tomatoes and Aloe Vera, as well as the Green Challenges on </a:t>
            </a:r>
            <a:r>
              <a:rPr lang="en-US" dirty="0" err="1"/>
              <a:t>GoodWall</a:t>
            </a:r>
            <a:r>
              <a:rPr lang="en-US" dirty="0"/>
              <a:t>, I decided to come up with an app that could give effective advice on what plants grow best in whatever terrain one resides. This project will use Django Python Framework for backend, HTML and CSS for Frontend, API’S Google Earth Engine, Browser Geolocation and Google Maps Platform.</a:t>
            </a:r>
            <a:endParaRPr lang="en-ZM" dirty="0"/>
          </a:p>
        </p:txBody>
      </p:sp>
    </p:spTree>
    <p:extLst>
      <p:ext uri="{BB962C8B-B14F-4D97-AF65-F5344CB8AC3E}">
        <p14:creationId xmlns:p14="http://schemas.microsoft.com/office/powerpoint/2010/main" val="869958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BA3A-7615-4562-8843-DF0D13B454FA}"/>
              </a:ext>
            </a:extLst>
          </p:cNvPr>
          <p:cNvSpPr>
            <a:spLocks noGrp="1"/>
          </p:cNvSpPr>
          <p:nvPr>
            <p:ph type="title"/>
          </p:nvPr>
        </p:nvSpPr>
        <p:spPr/>
        <p:txBody>
          <a:bodyPr/>
          <a:lstStyle/>
          <a:p>
            <a:r>
              <a:rPr lang="en-US" b="1" dirty="0"/>
              <a:t>DOMAIN CLASSES</a:t>
            </a:r>
            <a:endParaRPr lang="en-ZM" b="1" dirty="0"/>
          </a:p>
        </p:txBody>
      </p:sp>
      <p:sp>
        <p:nvSpPr>
          <p:cNvPr id="3" name="Content Placeholder 2">
            <a:extLst>
              <a:ext uri="{FF2B5EF4-FFF2-40B4-BE49-F238E27FC236}">
                <a16:creationId xmlns:a16="http://schemas.microsoft.com/office/drawing/2014/main" id="{BF9E140B-1658-4953-80BA-93BE5BFD6E96}"/>
              </a:ext>
            </a:extLst>
          </p:cNvPr>
          <p:cNvSpPr>
            <a:spLocks noGrp="1"/>
          </p:cNvSpPr>
          <p:nvPr>
            <p:ph idx="1"/>
          </p:nvPr>
        </p:nvSpPr>
        <p:spPr/>
        <p:txBody>
          <a:bodyPr/>
          <a:lstStyle/>
          <a:p>
            <a:r>
              <a:rPr lang="en-US" dirty="0"/>
              <a:t>Users</a:t>
            </a:r>
          </a:p>
          <a:p>
            <a:r>
              <a:rPr lang="en-US" dirty="0"/>
              <a:t>Locations</a:t>
            </a:r>
          </a:p>
          <a:p>
            <a:r>
              <a:rPr lang="en-US" dirty="0"/>
              <a:t>Environmental Conditions</a:t>
            </a:r>
          </a:p>
          <a:p>
            <a:r>
              <a:rPr lang="en-US" dirty="0"/>
              <a:t>Crops</a:t>
            </a:r>
          </a:p>
          <a:p>
            <a:r>
              <a:rPr lang="en-US" dirty="0"/>
              <a:t>Predictions</a:t>
            </a:r>
          </a:p>
          <a:p>
            <a:r>
              <a:rPr lang="en-US" dirty="0"/>
              <a:t>Recommendations</a:t>
            </a:r>
            <a:endParaRPr lang="en-ZM" dirty="0"/>
          </a:p>
        </p:txBody>
      </p:sp>
    </p:spTree>
    <p:extLst>
      <p:ext uri="{BB962C8B-B14F-4D97-AF65-F5344CB8AC3E}">
        <p14:creationId xmlns:p14="http://schemas.microsoft.com/office/powerpoint/2010/main" val="3042050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434B3-711D-4E8F-A203-9AC30F353405}"/>
              </a:ext>
            </a:extLst>
          </p:cNvPr>
          <p:cNvSpPr>
            <a:spLocks noGrp="1"/>
          </p:cNvSpPr>
          <p:nvPr>
            <p:ph type="title"/>
          </p:nvPr>
        </p:nvSpPr>
        <p:spPr>
          <a:xfrm>
            <a:off x="1657166" y="173970"/>
            <a:ext cx="10018713" cy="1752599"/>
          </a:xfrm>
        </p:spPr>
        <p:txBody>
          <a:bodyPr/>
          <a:lstStyle/>
          <a:p>
            <a:r>
              <a:rPr lang="en-US" b="1" dirty="0"/>
              <a:t>Conceptual Domain Model</a:t>
            </a:r>
            <a:endParaRPr lang="en-ZM" b="1" dirty="0"/>
          </a:p>
        </p:txBody>
      </p:sp>
      <p:sp>
        <p:nvSpPr>
          <p:cNvPr id="16" name="Content Placeholder 15">
            <a:extLst>
              <a:ext uri="{FF2B5EF4-FFF2-40B4-BE49-F238E27FC236}">
                <a16:creationId xmlns:a16="http://schemas.microsoft.com/office/drawing/2014/main" id="{7D1CC37D-2700-4291-9F5A-38B4EAD855B1}"/>
              </a:ext>
            </a:extLst>
          </p:cNvPr>
          <p:cNvSpPr txBox="1">
            <a:spLocks noGrp="1"/>
          </p:cNvSpPr>
          <p:nvPr>
            <p:ph idx="1"/>
          </p:nvPr>
        </p:nvSpPr>
        <p:spPr>
          <a:xfrm flipH="1">
            <a:off x="1656244" y="1580925"/>
            <a:ext cx="10515600" cy="480131"/>
          </a:xfrm>
          <a:prstGeom prst="rect">
            <a:avLst/>
          </a:prstGeom>
          <a:noFill/>
        </p:spPr>
        <p:txBody>
          <a:bodyPr wrap="square" rtlCol="0">
            <a:spAutoFit/>
          </a:bodyPr>
          <a:lstStyle/>
          <a:p>
            <a:pPr marL="0" indent="0">
              <a:buNone/>
            </a:pPr>
            <a:r>
              <a:rPr lang="en-US" dirty="0"/>
              <a:t>A basic conceptual model representing entities to come up with MVP</a:t>
            </a:r>
            <a:endParaRPr lang="en-ZM" dirty="0"/>
          </a:p>
        </p:txBody>
      </p:sp>
      <p:sp>
        <p:nvSpPr>
          <p:cNvPr id="6" name="TextBox 5">
            <a:extLst>
              <a:ext uri="{FF2B5EF4-FFF2-40B4-BE49-F238E27FC236}">
                <a16:creationId xmlns:a16="http://schemas.microsoft.com/office/drawing/2014/main" id="{CB4162BB-930F-481E-A26E-DE445C165498}"/>
              </a:ext>
            </a:extLst>
          </p:cNvPr>
          <p:cNvSpPr txBox="1"/>
          <p:nvPr/>
        </p:nvSpPr>
        <p:spPr>
          <a:xfrm flipH="1">
            <a:off x="8003028" y="2327012"/>
            <a:ext cx="1340630" cy="369332"/>
          </a:xfrm>
          <a:prstGeom prst="rect">
            <a:avLst/>
          </a:prstGeom>
          <a:noFill/>
          <a:ln>
            <a:solidFill>
              <a:schemeClr val="tx1"/>
            </a:solidFill>
          </a:ln>
        </p:spPr>
        <p:txBody>
          <a:bodyPr wrap="square" rtlCol="0">
            <a:spAutoFit/>
          </a:bodyPr>
          <a:lstStyle/>
          <a:p>
            <a:r>
              <a:rPr lang="en-US" dirty="0"/>
              <a:t>Predictions</a:t>
            </a:r>
            <a:endParaRPr lang="en-ZM" dirty="0"/>
          </a:p>
        </p:txBody>
      </p:sp>
      <p:sp>
        <p:nvSpPr>
          <p:cNvPr id="7" name="TextBox 6">
            <a:extLst>
              <a:ext uri="{FF2B5EF4-FFF2-40B4-BE49-F238E27FC236}">
                <a16:creationId xmlns:a16="http://schemas.microsoft.com/office/drawing/2014/main" id="{C204731B-C1DC-4176-A384-AC0AE59E7DDF}"/>
              </a:ext>
            </a:extLst>
          </p:cNvPr>
          <p:cNvSpPr txBox="1"/>
          <p:nvPr/>
        </p:nvSpPr>
        <p:spPr>
          <a:xfrm flipH="1">
            <a:off x="3665711" y="2790004"/>
            <a:ext cx="1134152" cy="369332"/>
          </a:xfrm>
          <a:prstGeom prst="rect">
            <a:avLst/>
          </a:prstGeom>
          <a:noFill/>
          <a:ln>
            <a:solidFill>
              <a:schemeClr val="tx1"/>
            </a:solidFill>
          </a:ln>
        </p:spPr>
        <p:txBody>
          <a:bodyPr wrap="square" rtlCol="0">
            <a:spAutoFit/>
          </a:bodyPr>
          <a:lstStyle/>
          <a:p>
            <a:r>
              <a:rPr lang="en-US" dirty="0"/>
              <a:t>Farm</a:t>
            </a:r>
            <a:endParaRPr lang="en-ZM" dirty="0"/>
          </a:p>
        </p:txBody>
      </p:sp>
      <p:sp>
        <p:nvSpPr>
          <p:cNvPr id="9" name="TextBox 8">
            <a:extLst>
              <a:ext uri="{FF2B5EF4-FFF2-40B4-BE49-F238E27FC236}">
                <a16:creationId xmlns:a16="http://schemas.microsoft.com/office/drawing/2014/main" id="{E46393A0-C234-45BB-B147-91E9FF7D2C4B}"/>
              </a:ext>
            </a:extLst>
          </p:cNvPr>
          <p:cNvSpPr txBox="1"/>
          <p:nvPr/>
        </p:nvSpPr>
        <p:spPr>
          <a:xfrm flipH="1">
            <a:off x="5297128" y="3860546"/>
            <a:ext cx="1953425" cy="369332"/>
          </a:xfrm>
          <a:prstGeom prst="rect">
            <a:avLst/>
          </a:prstGeom>
          <a:noFill/>
          <a:ln>
            <a:solidFill>
              <a:schemeClr val="tx1"/>
            </a:solidFill>
          </a:ln>
        </p:spPr>
        <p:txBody>
          <a:bodyPr wrap="square" rtlCol="0">
            <a:spAutoFit/>
          </a:bodyPr>
          <a:lstStyle/>
          <a:p>
            <a:r>
              <a:rPr lang="en-US" dirty="0" err="1"/>
              <a:t>EnvironmentData</a:t>
            </a:r>
            <a:endParaRPr lang="en-ZM" dirty="0"/>
          </a:p>
        </p:txBody>
      </p:sp>
      <p:sp>
        <p:nvSpPr>
          <p:cNvPr id="10" name="TextBox 9">
            <a:extLst>
              <a:ext uri="{FF2B5EF4-FFF2-40B4-BE49-F238E27FC236}">
                <a16:creationId xmlns:a16="http://schemas.microsoft.com/office/drawing/2014/main" id="{9A844E96-DA5A-4DF6-B020-DB104BB3AB06}"/>
              </a:ext>
            </a:extLst>
          </p:cNvPr>
          <p:cNvSpPr txBox="1"/>
          <p:nvPr/>
        </p:nvSpPr>
        <p:spPr>
          <a:xfrm flipH="1">
            <a:off x="3329817" y="5055588"/>
            <a:ext cx="1134152" cy="369332"/>
          </a:xfrm>
          <a:prstGeom prst="rect">
            <a:avLst/>
          </a:prstGeom>
          <a:noFill/>
          <a:ln>
            <a:solidFill>
              <a:schemeClr val="tx1"/>
            </a:solidFill>
          </a:ln>
        </p:spPr>
        <p:txBody>
          <a:bodyPr wrap="square" rtlCol="0">
            <a:spAutoFit/>
          </a:bodyPr>
          <a:lstStyle/>
          <a:p>
            <a:r>
              <a:rPr lang="en-US" dirty="0"/>
              <a:t>Location</a:t>
            </a:r>
            <a:endParaRPr lang="en-ZM" dirty="0"/>
          </a:p>
        </p:txBody>
      </p:sp>
      <p:sp>
        <p:nvSpPr>
          <p:cNvPr id="11" name="TextBox 10">
            <a:extLst>
              <a:ext uri="{FF2B5EF4-FFF2-40B4-BE49-F238E27FC236}">
                <a16:creationId xmlns:a16="http://schemas.microsoft.com/office/drawing/2014/main" id="{4010F418-18FF-4E30-8DD5-EC233C872D93}"/>
              </a:ext>
            </a:extLst>
          </p:cNvPr>
          <p:cNvSpPr txBox="1"/>
          <p:nvPr/>
        </p:nvSpPr>
        <p:spPr>
          <a:xfrm flipH="1">
            <a:off x="9606977" y="3519412"/>
            <a:ext cx="1134152" cy="369332"/>
          </a:xfrm>
          <a:prstGeom prst="rect">
            <a:avLst/>
          </a:prstGeom>
          <a:noFill/>
          <a:ln>
            <a:solidFill>
              <a:schemeClr val="tx1"/>
            </a:solidFill>
          </a:ln>
        </p:spPr>
        <p:txBody>
          <a:bodyPr wrap="square" rtlCol="0">
            <a:spAutoFit/>
          </a:bodyPr>
          <a:lstStyle/>
          <a:p>
            <a:r>
              <a:rPr lang="en-US" dirty="0"/>
              <a:t>Crop</a:t>
            </a:r>
            <a:endParaRPr lang="en-ZM" dirty="0"/>
          </a:p>
        </p:txBody>
      </p:sp>
      <p:sp>
        <p:nvSpPr>
          <p:cNvPr id="14" name="TextBox 13">
            <a:extLst>
              <a:ext uri="{FF2B5EF4-FFF2-40B4-BE49-F238E27FC236}">
                <a16:creationId xmlns:a16="http://schemas.microsoft.com/office/drawing/2014/main" id="{C2FF1F85-13A9-4DB5-83A2-5B8DC4D0DACE}"/>
              </a:ext>
            </a:extLst>
          </p:cNvPr>
          <p:cNvSpPr txBox="1"/>
          <p:nvPr/>
        </p:nvSpPr>
        <p:spPr>
          <a:xfrm flipH="1">
            <a:off x="1496930" y="3725669"/>
            <a:ext cx="1134152" cy="369332"/>
          </a:xfrm>
          <a:prstGeom prst="rect">
            <a:avLst/>
          </a:prstGeom>
          <a:noFill/>
          <a:ln>
            <a:solidFill>
              <a:schemeClr val="tx1"/>
            </a:solidFill>
          </a:ln>
        </p:spPr>
        <p:txBody>
          <a:bodyPr wrap="square" rtlCol="0">
            <a:spAutoFit/>
          </a:bodyPr>
          <a:lstStyle/>
          <a:p>
            <a:r>
              <a:rPr lang="en-US" dirty="0"/>
              <a:t>Users</a:t>
            </a:r>
            <a:endParaRPr lang="en-ZM" dirty="0"/>
          </a:p>
        </p:txBody>
      </p:sp>
      <p:sp>
        <p:nvSpPr>
          <p:cNvPr id="17" name="TextBox 16">
            <a:extLst>
              <a:ext uri="{FF2B5EF4-FFF2-40B4-BE49-F238E27FC236}">
                <a16:creationId xmlns:a16="http://schemas.microsoft.com/office/drawing/2014/main" id="{79FAAE06-E4AE-40C2-B957-FE707E55DF59}"/>
              </a:ext>
            </a:extLst>
          </p:cNvPr>
          <p:cNvSpPr txBox="1"/>
          <p:nvPr/>
        </p:nvSpPr>
        <p:spPr>
          <a:xfrm>
            <a:off x="1559827" y="5884995"/>
            <a:ext cx="2056663" cy="369332"/>
          </a:xfrm>
          <a:prstGeom prst="rect">
            <a:avLst/>
          </a:prstGeom>
          <a:noFill/>
          <a:ln>
            <a:solidFill>
              <a:schemeClr val="tx1"/>
            </a:solidFill>
          </a:ln>
        </p:spPr>
        <p:txBody>
          <a:bodyPr wrap="square" rtlCol="0">
            <a:spAutoFit/>
          </a:bodyPr>
          <a:lstStyle/>
          <a:p>
            <a:r>
              <a:rPr lang="en-US" dirty="0"/>
              <a:t>Recommendation</a:t>
            </a:r>
            <a:endParaRPr lang="en-ZM" dirty="0"/>
          </a:p>
        </p:txBody>
      </p:sp>
      <p:cxnSp>
        <p:nvCxnSpPr>
          <p:cNvPr id="26" name="Connector: Elbow 25">
            <a:extLst>
              <a:ext uri="{FF2B5EF4-FFF2-40B4-BE49-F238E27FC236}">
                <a16:creationId xmlns:a16="http://schemas.microsoft.com/office/drawing/2014/main" id="{674433CB-1968-4935-8313-8938B23EA006}"/>
              </a:ext>
            </a:extLst>
          </p:cNvPr>
          <p:cNvCxnSpPr>
            <a:cxnSpLocks/>
            <a:endCxn id="6" idx="1"/>
          </p:cNvCxnSpPr>
          <p:nvPr/>
        </p:nvCxnSpPr>
        <p:spPr>
          <a:xfrm flipV="1">
            <a:off x="3628288" y="2511678"/>
            <a:ext cx="5715370" cy="3554114"/>
          </a:xfrm>
          <a:prstGeom prst="bentConnector3">
            <a:avLst>
              <a:gd name="adj1" fmla="val 104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109D71BB-B081-4AD1-B2A7-E7F5730317C8}"/>
              </a:ext>
            </a:extLst>
          </p:cNvPr>
          <p:cNvCxnSpPr>
            <a:cxnSpLocks/>
            <a:stCxn id="11" idx="0"/>
            <a:endCxn id="6" idx="0"/>
          </p:cNvCxnSpPr>
          <p:nvPr/>
        </p:nvCxnSpPr>
        <p:spPr>
          <a:xfrm rot="16200000" flipV="1">
            <a:off x="8827498" y="2172857"/>
            <a:ext cx="1192400" cy="1500710"/>
          </a:xfrm>
          <a:prstGeom prst="bentConnector3">
            <a:avLst>
              <a:gd name="adj1" fmla="val 11917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62D9B7E4-C3D1-4B7E-840B-BBC2E1336F5B}"/>
              </a:ext>
            </a:extLst>
          </p:cNvPr>
          <p:cNvCxnSpPr>
            <a:stCxn id="9" idx="0"/>
            <a:endCxn id="7" idx="1"/>
          </p:cNvCxnSpPr>
          <p:nvPr/>
        </p:nvCxnSpPr>
        <p:spPr>
          <a:xfrm rot="16200000" flipV="1">
            <a:off x="5093914" y="2680619"/>
            <a:ext cx="885876" cy="147397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A51E76AD-E66F-4B2D-8310-EE2B689D87EE}"/>
              </a:ext>
            </a:extLst>
          </p:cNvPr>
          <p:cNvCxnSpPr>
            <a:stCxn id="9" idx="1"/>
            <a:endCxn id="6" idx="2"/>
          </p:cNvCxnSpPr>
          <p:nvPr/>
        </p:nvCxnSpPr>
        <p:spPr>
          <a:xfrm flipV="1">
            <a:off x="7250553" y="2696344"/>
            <a:ext cx="1422790" cy="134886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E6823AC-F171-4E84-BA96-6AF817978442}"/>
              </a:ext>
            </a:extLst>
          </p:cNvPr>
          <p:cNvCxnSpPr>
            <a:stCxn id="10" idx="0"/>
            <a:endCxn id="7" idx="2"/>
          </p:cNvCxnSpPr>
          <p:nvPr/>
        </p:nvCxnSpPr>
        <p:spPr>
          <a:xfrm rot="5400000" flipH="1" flipV="1">
            <a:off x="3116714" y="3939515"/>
            <a:ext cx="1896252" cy="33589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67C7FF4E-97D0-4A38-8E1D-560D91DD4BD8}"/>
              </a:ext>
            </a:extLst>
          </p:cNvPr>
          <p:cNvCxnSpPr>
            <a:stCxn id="14" idx="1"/>
            <a:endCxn id="7" idx="3"/>
          </p:cNvCxnSpPr>
          <p:nvPr/>
        </p:nvCxnSpPr>
        <p:spPr>
          <a:xfrm flipV="1">
            <a:off x="2631082" y="2974670"/>
            <a:ext cx="1034629" cy="935665"/>
          </a:xfrm>
          <a:prstGeom prst="bentConnector3">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B0D5E31-D32F-486F-876E-55CC9A518D78}"/>
              </a:ext>
            </a:extLst>
          </p:cNvPr>
          <p:cNvSpPr txBox="1"/>
          <p:nvPr/>
        </p:nvSpPr>
        <p:spPr>
          <a:xfrm>
            <a:off x="2362938" y="3167286"/>
            <a:ext cx="817675" cy="369332"/>
          </a:xfrm>
          <a:prstGeom prst="rect">
            <a:avLst/>
          </a:prstGeom>
          <a:noFill/>
        </p:spPr>
        <p:txBody>
          <a:bodyPr wrap="square" rtlCol="0">
            <a:spAutoFit/>
          </a:bodyPr>
          <a:lstStyle/>
          <a:p>
            <a:r>
              <a:rPr lang="en-US" dirty="0"/>
              <a:t>owns</a:t>
            </a:r>
            <a:endParaRPr lang="en-ZM" dirty="0"/>
          </a:p>
        </p:txBody>
      </p:sp>
      <p:sp>
        <p:nvSpPr>
          <p:cNvPr id="55" name="TextBox 54">
            <a:extLst>
              <a:ext uri="{FF2B5EF4-FFF2-40B4-BE49-F238E27FC236}">
                <a16:creationId xmlns:a16="http://schemas.microsoft.com/office/drawing/2014/main" id="{945EAB3E-20C2-4FA5-920C-F1D269089288}"/>
              </a:ext>
            </a:extLst>
          </p:cNvPr>
          <p:cNvSpPr txBox="1"/>
          <p:nvPr/>
        </p:nvSpPr>
        <p:spPr>
          <a:xfrm>
            <a:off x="6221054" y="3177539"/>
            <a:ext cx="1186939" cy="369332"/>
          </a:xfrm>
          <a:prstGeom prst="rect">
            <a:avLst/>
          </a:prstGeom>
          <a:noFill/>
        </p:spPr>
        <p:txBody>
          <a:bodyPr wrap="square" rtlCol="0">
            <a:spAutoFit/>
          </a:bodyPr>
          <a:lstStyle/>
          <a:p>
            <a:r>
              <a:rPr lang="en-US" dirty="0"/>
              <a:t>Belongs to </a:t>
            </a:r>
            <a:endParaRPr lang="en-ZM" dirty="0"/>
          </a:p>
        </p:txBody>
      </p:sp>
      <p:cxnSp>
        <p:nvCxnSpPr>
          <p:cNvPr id="57" name="Connector: Elbow 56">
            <a:extLst>
              <a:ext uri="{FF2B5EF4-FFF2-40B4-BE49-F238E27FC236}">
                <a16:creationId xmlns:a16="http://schemas.microsoft.com/office/drawing/2014/main" id="{18EB1D55-3F1F-46DA-8A78-FE9CA69A2F16}"/>
              </a:ext>
            </a:extLst>
          </p:cNvPr>
          <p:cNvCxnSpPr>
            <a:cxnSpLocks/>
          </p:cNvCxnSpPr>
          <p:nvPr/>
        </p:nvCxnSpPr>
        <p:spPr>
          <a:xfrm rot="5400000" flipH="1" flipV="1">
            <a:off x="5984460" y="760005"/>
            <a:ext cx="278326" cy="3781671"/>
          </a:xfrm>
          <a:prstGeom prst="bentConnector2">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BF83B2C-2CA6-432A-811A-09693B88AC68}"/>
              </a:ext>
            </a:extLst>
          </p:cNvPr>
          <p:cNvSpPr txBox="1"/>
          <p:nvPr/>
        </p:nvSpPr>
        <p:spPr>
          <a:xfrm>
            <a:off x="5629551" y="2411570"/>
            <a:ext cx="976713" cy="369332"/>
          </a:xfrm>
          <a:prstGeom prst="rect">
            <a:avLst/>
          </a:prstGeom>
          <a:noFill/>
        </p:spPr>
        <p:txBody>
          <a:bodyPr wrap="square" rtlCol="0">
            <a:spAutoFit/>
          </a:bodyPr>
          <a:lstStyle/>
          <a:p>
            <a:r>
              <a:rPr lang="en-US" dirty="0"/>
              <a:t>Has</a:t>
            </a:r>
            <a:endParaRPr lang="en-ZM" dirty="0"/>
          </a:p>
        </p:txBody>
      </p:sp>
      <p:sp>
        <p:nvSpPr>
          <p:cNvPr id="61" name="TextBox 60">
            <a:extLst>
              <a:ext uri="{FF2B5EF4-FFF2-40B4-BE49-F238E27FC236}">
                <a16:creationId xmlns:a16="http://schemas.microsoft.com/office/drawing/2014/main" id="{BA9B5B1E-2AB4-4204-B107-9FB1FF97E00B}"/>
              </a:ext>
            </a:extLst>
          </p:cNvPr>
          <p:cNvSpPr txBox="1"/>
          <p:nvPr/>
        </p:nvSpPr>
        <p:spPr>
          <a:xfrm>
            <a:off x="7650693" y="3703750"/>
            <a:ext cx="942701" cy="369332"/>
          </a:xfrm>
          <a:prstGeom prst="rect">
            <a:avLst/>
          </a:prstGeom>
          <a:noFill/>
        </p:spPr>
        <p:txBody>
          <a:bodyPr wrap="square" rtlCol="0">
            <a:spAutoFit/>
          </a:bodyPr>
          <a:lstStyle/>
          <a:p>
            <a:r>
              <a:rPr lang="en-US" dirty="0"/>
              <a:t>Assists</a:t>
            </a:r>
            <a:endParaRPr lang="en-ZM" dirty="0"/>
          </a:p>
        </p:txBody>
      </p:sp>
      <p:sp>
        <p:nvSpPr>
          <p:cNvPr id="62" name="TextBox 61">
            <a:extLst>
              <a:ext uri="{FF2B5EF4-FFF2-40B4-BE49-F238E27FC236}">
                <a16:creationId xmlns:a16="http://schemas.microsoft.com/office/drawing/2014/main" id="{63C23537-1A4E-4D49-8441-F6DFE59EB4D5}"/>
              </a:ext>
            </a:extLst>
          </p:cNvPr>
          <p:cNvSpPr txBox="1"/>
          <p:nvPr/>
        </p:nvSpPr>
        <p:spPr>
          <a:xfrm>
            <a:off x="3814915" y="4316924"/>
            <a:ext cx="1134152" cy="369332"/>
          </a:xfrm>
          <a:prstGeom prst="rect">
            <a:avLst/>
          </a:prstGeom>
          <a:noFill/>
        </p:spPr>
        <p:txBody>
          <a:bodyPr wrap="square" rtlCol="0">
            <a:spAutoFit/>
          </a:bodyPr>
          <a:lstStyle/>
          <a:p>
            <a:r>
              <a:rPr lang="en-US" dirty="0"/>
              <a:t>Linked to</a:t>
            </a:r>
            <a:endParaRPr lang="en-ZM" dirty="0"/>
          </a:p>
        </p:txBody>
      </p:sp>
      <p:cxnSp>
        <p:nvCxnSpPr>
          <p:cNvPr id="66" name="Connector: Elbow 65">
            <a:extLst>
              <a:ext uri="{FF2B5EF4-FFF2-40B4-BE49-F238E27FC236}">
                <a16:creationId xmlns:a16="http://schemas.microsoft.com/office/drawing/2014/main" id="{9A545B6E-92F9-4252-94A4-A668E997C391}"/>
              </a:ext>
            </a:extLst>
          </p:cNvPr>
          <p:cNvCxnSpPr>
            <a:cxnSpLocks/>
          </p:cNvCxnSpPr>
          <p:nvPr/>
        </p:nvCxnSpPr>
        <p:spPr>
          <a:xfrm rot="10800000" flipH="1" flipV="1">
            <a:off x="1479878" y="3922796"/>
            <a:ext cx="105820" cy="2183217"/>
          </a:xfrm>
          <a:prstGeom prst="bentConnector3">
            <a:avLst>
              <a:gd name="adj1" fmla="val -21602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7A7C4FF-3D71-4095-9CEA-54F4F52A6A2D}"/>
              </a:ext>
            </a:extLst>
          </p:cNvPr>
          <p:cNvSpPr txBox="1"/>
          <p:nvPr/>
        </p:nvSpPr>
        <p:spPr>
          <a:xfrm>
            <a:off x="1228786" y="4908348"/>
            <a:ext cx="1134152" cy="369332"/>
          </a:xfrm>
          <a:prstGeom prst="rect">
            <a:avLst/>
          </a:prstGeom>
          <a:noFill/>
        </p:spPr>
        <p:txBody>
          <a:bodyPr wrap="square" rtlCol="0">
            <a:spAutoFit/>
          </a:bodyPr>
          <a:lstStyle/>
          <a:p>
            <a:r>
              <a:rPr lang="en-US" dirty="0"/>
              <a:t>Receives</a:t>
            </a:r>
            <a:endParaRPr lang="en-ZM" dirty="0"/>
          </a:p>
        </p:txBody>
      </p:sp>
      <p:sp>
        <p:nvSpPr>
          <p:cNvPr id="68" name="TextBox 67">
            <a:extLst>
              <a:ext uri="{FF2B5EF4-FFF2-40B4-BE49-F238E27FC236}">
                <a16:creationId xmlns:a16="http://schemas.microsoft.com/office/drawing/2014/main" id="{C07C3741-0794-4733-9699-68D5F087B98C}"/>
              </a:ext>
            </a:extLst>
          </p:cNvPr>
          <p:cNvSpPr txBox="1"/>
          <p:nvPr/>
        </p:nvSpPr>
        <p:spPr>
          <a:xfrm>
            <a:off x="10219648" y="2844352"/>
            <a:ext cx="1134152" cy="369332"/>
          </a:xfrm>
          <a:prstGeom prst="rect">
            <a:avLst/>
          </a:prstGeom>
          <a:noFill/>
          <a:ln>
            <a:solidFill>
              <a:schemeClr val="tx1"/>
            </a:solidFill>
          </a:ln>
        </p:spPr>
        <p:txBody>
          <a:bodyPr wrap="square" rtlCol="0">
            <a:spAutoFit/>
          </a:bodyPr>
          <a:lstStyle/>
          <a:p>
            <a:r>
              <a:rPr lang="en-US" dirty="0"/>
              <a:t>Based on</a:t>
            </a:r>
            <a:endParaRPr lang="en-ZM" dirty="0"/>
          </a:p>
        </p:txBody>
      </p:sp>
      <p:sp>
        <p:nvSpPr>
          <p:cNvPr id="79" name="TextBox 78">
            <a:extLst>
              <a:ext uri="{FF2B5EF4-FFF2-40B4-BE49-F238E27FC236}">
                <a16:creationId xmlns:a16="http://schemas.microsoft.com/office/drawing/2014/main" id="{5A5DC216-33FA-4DC7-B8C1-767E343B0DB8}"/>
              </a:ext>
            </a:extLst>
          </p:cNvPr>
          <p:cNvSpPr txBox="1"/>
          <p:nvPr/>
        </p:nvSpPr>
        <p:spPr>
          <a:xfrm>
            <a:off x="5629551" y="5589016"/>
            <a:ext cx="1390681" cy="369332"/>
          </a:xfrm>
          <a:prstGeom prst="rect">
            <a:avLst/>
          </a:prstGeom>
          <a:noFill/>
        </p:spPr>
        <p:txBody>
          <a:bodyPr wrap="square" rtlCol="0">
            <a:spAutoFit/>
          </a:bodyPr>
          <a:lstStyle/>
          <a:p>
            <a:r>
              <a:rPr lang="en-US" dirty="0"/>
              <a:t>Based on</a:t>
            </a:r>
            <a:endParaRPr lang="en-ZM" dirty="0"/>
          </a:p>
        </p:txBody>
      </p:sp>
    </p:spTree>
    <p:extLst>
      <p:ext uri="{BB962C8B-B14F-4D97-AF65-F5344CB8AC3E}">
        <p14:creationId xmlns:p14="http://schemas.microsoft.com/office/powerpoint/2010/main" val="687825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3A2E5-7CB6-42E1-AFE2-A2817BF416EE}"/>
              </a:ext>
            </a:extLst>
          </p:cNvPr>
          <p:cNvSpPr>
            <a:spLocks noGrp="1"/>
          </p:cNvSpPr>
          <p:nvPr>
            <p:ph type="title"/>
          </p:nvPr>
        </p:nvSpPr>
        <p:spPr>
          <a:xfrm>
            <a:off x="838200" y="256970"/>
            <a:ext cx="10515600" cy="1325563"/>
          </a:xfrm>
        </p:spPr>
        <p:txBody>
          <a:bodyPr/>
          <a:lstStyle/>
          <a:p>
            <a:r>
              <a:rPr lang="en-US" b="1" dirty="0"/>
              <a:t>TEXTUAL EXPLAINATION OF DOMAIN MODEL</a:t>
            </a:r>
            <a:endParaRPr lang="en-ZM" b="1" dirty="0"/>
          </a:p>
        </p:txBody>
      </p:sp>
      <p:sp>
        <p:nvSpPr>
          <p:cNvPr id="3" name="Content Placeholder 2">
            <a:extLst>
              <a:ext uri="{FF2B5EF4-FFF2-40B4-BE49-F238E27FC236}">
                <a16:creationId xmlns:a16="http://schemas.microsoft.com/office/drawing/2014/main" id="{E69B2490-1092-45DC-8243-7153AEC9C481}"/>
              </a:ext>
            </a:extLst>
          </p:cNvPr>
          <p:cNvSpPr>
            <a:spLocks noGrp="1"/>
          </p:cNvSpPr>
          <p:nvPr>
            <p:ph idx="1"/>
          </p:nvPr>
        </p:nvSpPr>
        <p:spPr/>
        <p:txBody>
          <a:bodyPr>
            <a:normAutofit/>
          </a:bodyPr>
          <a:lstStyle/>
          <a:p>
            <a:r>
              <a:rPr lang="en-US" dirty="0"/>
              <a:t>User has a farm, Farm has location, farm has </a:t>
            </a:r>
            <a:r>
              <a:rPr lang="en-US" dirty="0" err="1"/>
              <a:t>EnvironmentalData</a:t>
            </a:r>
            <a:r>
              <a:rPr lang="en-US" dirty="0"/>
              <a:t> which is dependent on Farm’s location, </a:t>
            </a:r>
            <a:r>
              <a:rPr lang="en-US" dirty="0" err="1"/>
              <a:t>EnvironmentalData</a:t>
            </a:r>
            <a:r>
              <a:rPr lang="en-US" dirty="0"/>
              <a:t> assists AI model make predictions, Crop suggestions are dependent on Predictions, Users get recommendation based on Predictions and ultimately, the farm has predictions.</a:t>
            </a:r>
            <a:endParaRPr lang="en-ZM" dirty="0"/>
          </a:p>
        </p:txBody>
      </p:sp>
    </p:spTree>
    <p:extLst>
      <p:ext uri="{BB962C8B-B14F-4D97-AF65-F5344CB8AC3E}">
        <p14:creationId xmlns:p14="http://schemas.microsoft.com/office/powerpoint/2010/main" val="2775920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AE61-E020-4BC8-B9AA-8D0635D9F284}"/>
              </a:ext>
            </a:extLst>
          </p:cNvPr>
          <p:cNvSpPr>
            <a:spLocks noGrp="1"/>
          </p:cNvSpPr>
          <p:nvPr>
            <p:ph type="title"/>
          </p:nvPr>
        </p:nvSpPr>
        <p:spPr/>
        <p:txBody>
          <a:bodyPr/>
          <a:lstStyle/>
          <a:p>
            <a:r>
              <a:rPr lang="en-US" dirty="0"/>
              <a:t>Classes and Attributes</a:t>
            </a:r>
            <a:endParaRPr lang="en-ZM" dirty="0"/>
          </a:p>
        </p:txBody>
      </p:sp>
    </p:spTree>
    <p:extLst>
      <p:ext uri="{BB962C8B-B14F-4D97-AF65-F5344CB8AC3E}">
        <p14:creationId xmlns:p14="http://schemas.microsoft.com/office/powerpoint/2010/main" val="39112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27C70-E801-4621-BB5D-2AA737FD9D0D}"/>
              </a:ext>
            </a:extLst>
          </p:cNvPr>
          <p:cNvSpPr>
            <a:spLocks noGrp="1"/>
          </p:cNvSpPr>
          <p:nvPr>
            <p:ph type="title"/>
          </p:nvPr>
        </p:nvSpPr>
        <p:spPr/>
        <p:txBody>
          <a:bodyPr/>
          <a:lstStyle/>
          <a:p>
            <a:r>
              <a:rPr lang="en-US" dirty="0"/>
              <a:t>User</a:t>
            </a:r>
            <a:endParaRPr lang="en-ZM" dirty="0"/>
          </a:p>
        </p:txBody>
      </p:sp>
      <p:sp>
        <p:nvSpPr>
          <p:cNvPr id="3" name="Content Placeholder 2">
            <a:extLst>
              <a:ext uri="{FF2B5EF4-FFF2-40B4-BE49-F238E27FC236}">
                <a16:creationId xmlns:a16="http://schemas.microsoft.com/office/drawing/2014/main" id="{52398C43-5787-4758-B5A2-FB40DC0DE032}"/>
              </a:ext>
            </a:extLst>
          </p:cNvPr>
          <p:cNvSpPr>
            <a:spLocks noGrp="1"/>
          </p:cNvSpPr>
          <p:nvPr>
            <p:ph idx="1"/>
          </p:nvPr>
        </p:nvSpPr>
        <p:spPr/>
        <p:txBody>
          <a:bodyPr/>
          <a:lstStyle/>
          <a:p>
            <a:r>
              <a:rPr lang="en-US" dirty="0"/>
              <a:t>Id</a:t>
            </a:r>
          </a:p>
          <a:p>
            <a:r>
              <a:rPr lang="en-US" dirty="0"/>
              <a:t>Name</a:t>
            </a:r>
          </a:p>
          <a:p>
            <a:r>
              <a:rPr lang="en-US" dirty="0"/>
              <a:t>email</a:t>
            </a:r>
          </a:p>
          <a:p>
            <a:r>
              <a:rPr lang="en-US" dirty="0"/>
              <a:t>Password</a:t>
            </a:r>
          </a:p>
          <a:p>
            <a:r>
              <a:rPr lang="en-US" dirty="0"/>
              <a:t>Role(Farmer, Admin, Researcher)</a:t>
            </a:r>
            <a:endParaRPr lang="en-ZM" dirty="0"/>
          </a:p>
        </p:txBody>
      </p:sp>
    </p:spTree>
    <p:extLst>
      <p:ext uri="{BB962C8B-B14F-4D97-AF65-F5344CB8AC3E}">
        <p14:creationId xmlns:p14="http://schemas.microsoft.com/office/powerpoint/2010/main" val="196756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32796-1B5A-499F-9015-B82AF2B4E6A0}"/>
              </a:ext>
            </a:extLst>
          </p:cNvPr>
          <p:cNvSpPr>
            <a:spLocks noGrp="1"/>
          </p:cNvSpPr>
          <p:nvPr>
            <p:ph type="title"/>
          </p:nvPr>
        </p:nvSpPr>
        <p:spPr/>
        <p:txBody>
          <a:bodyPr/>
          <a:lstStyle/>
          <a:p>
            <a:r>
              <a:rPr lang="en-US" dirty="0"/>
              <a:t>Farm</a:t>
            </a:r>
            <a:endParaRPr lang="en-ZM" dirty="0"/>
          </a:p>
        </p:txBody>
      </p:sp>
      <p:sp>
        <p:nvSpPr>
          <p:cNvPr id="3" name="Content Placeholder 2">
            <a:extLst>
              <a:ext uri="{FF2B5EF4-FFF2-40B4-BE49-F238E27FC236}">
                <a16:creationId xmlns:a16="http://schemas.microsoft.com/office/drawing/2014/main" id="{7FD9234D-E424-4371-BAD8-CAC94D56F740}"/>
              </a:ext>
            </a:extLst>
          </p:cNvPr>
          <p:cNvSpPr>
            <a:spLocks noGrp="1"/>
          </p:cNvSpPr>
          <p:nvPr>
            <p:ph idx="1"/>
          </p:nvPr>
        </p:nvSpPr>
        <p:spPr/>
        <p:txBody>
          <a:bodyPr>
            <a:normAutofit/>
          </a:bodyPr>
          <a:lstStyle/>
          <a:p>
            <a:r>
              <a:rPr lang="en-US" dirty="0"/>
              <a:t>Id</a:t>
            </a:r>
          </a:p>
          <a:p>
            <a:r>
              <a:rPr lang="en-US" dirty="0"/>
              <a:t>Name</a:t>
            </a:r>
          </a:p>
          <a:p>
            <a:r>
              <a:rPr lang="en-US" dirty="0"/>
              <a:t>Longitude</a:t>
            </a:r>
          </a:p>
          <a:p>
            <a:r>
              <a:rPr lang="en-US" dirty="0" err="1"/>
              <a:t>Lattitude</a:t>
            </a:r>
            <a:endParaRPr lang="en-US" dirty="0"/>
          </a:p>
          <a:p>
            <a:r>
              <a:rPr lang="en-US" dirty="0"/>
              <a:t>Size</a:t>
            </a:r>
          </a:p>
          <a:p>
            <a:r>
              <a:rPr lang="en-US" dirty="0" err="1"/>
              <a:t>Soil_type</a:t>
            </a:r>
            <a:endParaRPr lang="en-ZM" dirty="0"/>
          </a:p>
        </p:txBody>
      </p:sp>
    </p:spTree>
    <p:extLst>
      <p:ext uri="{BB962C8B-B14F-4D97-AF65-F5344CB8AC3E}">
        <p14:creationId xmlns:p14="http://schemas.microsoft.com/office/powerpoint/2010/main" val="109606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37CB-F890-4CB0-B736-85ED69B198BE}"/>
              </a:ext>
            </a:extLst>
          </p:cNvPr>
          <p:cNvSpPr>
            <a:spLocks noGrp="1"/>
          </p:cNvSpPr>
          <p:nvPr>
            <p:ph type="title"/>
          </p:nvPr>
        </p:nvSpPr>
        <p:spPr/>
        <p:txBody>
          <a:bodyPr/>
          <a:lstStyle/>
          <a:p>
            <a:r>
              <a:rPr lang="en-US" dirty="0"/>
              <a:t>Location</a:t>
            </a:r>
            <a:endParaRPr lang="en-ZM" dirty="0"/>
          </a:p>
        </p:txBody>
      </p:sp>
      <p:sp>
        <p:nvSpPr>
          <p:cNvPr id="3" name="Content Placeholder 2">
            <a:extLst>
              <a:ext uri="{FF2B5EF4-FFF2-40B4-BE49-F238E27FC236}">
                <a16:creationId xmlns:a16="http://schemas.microsoft.com/office/drawing/2014/main" id="{B8E3B6D2-F37F-4353-BC88-5BB06B52EEAE}"/>
              </a:ext>
            </a:extLst>
          </p:cNvPr>
          <p:cNvSpPr>
            <a:spLocks noGrp="1"/>
          </p:cNvSpPr>
          <p:nvPr>
            <p:ph idx="1"/>
          </p:nvPr>
        </p:nvSpPr>
        <p:spPr/>
        <p:txBody>
          <a:bodyPr/>
          <a:lstStyle/>
          <a:p>
            <a:r>
              <a:rPr lang="en-US" dirty="0" err="1"/>
              <a:t>Lattitude</a:t>
            </a:r>
            <a:endParaRPr lang="en-US" dirty="0"/>
          </a:p>
          <a:p>
            <a:r>
              <a:rPr lang="en-US" dirty="0"/>
              <a:t>Longitude</a:t>
            </a:r>
          </a:p>
          <a:p>
            <a:r>
              <a:rPr lang="en-US" dirty="0"/>
              <a:t>Region</a:t>
            </a:r>
          </a:p>
          <a:p>
            <a:r>
              <a:rPr lang="en-US" dirty="0"/>
              <a:t>Country(Zambia for now)</a:t>
            </a:r>
          </a:p>
          <a:p>
            <a:r>
              <a:rPr lang="en-US" dirty="0"/>
              <a:t>Elevation</a:t>
            </a:r>
            <a:endParaRPr lang="en-ZM" dirty="0"/>
          </a:p>
        </p:txBody>
      </p:sp>
    </p:spTree>
    <p:extLst>
      <p:ext uri="{BB962C8B-B14F-4D97-AF65-F5344CB8AC3E}">
        <p14:creationId xmlns:p14="http://schemas.microsoft.com/office/powerpoint/2010/main" val="101469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6CF4F-FDCF-4357-9E59-25AC57A845DB}"/>
              </a:ext>
            </a:extLst>
          </p:cNvPr>
          <p:cNvSpPr>
            <a:spLocks noGrp="1"/>
          </p:cNvSpPr>
          <p:nvPr>
            <p:ph type="title"/>
          </p:nvPr>
        </p:nvSpPr>
        <p:spPr/>
        <p:txBody>
          <a:bodyPr/>
          <a:lstStyle/>
          <a:p>
            <a:r>
              <a:rPr lang="en-US" dirty="0"/>
              <a:t>Crop</a:t>
            </a:r>
            <a:endParaRPr lang="en-ZM" dirty="0"/>
          </a:p>
        </p:txBody>
      </p:sp>
      <p:sp>
        <p:nvSpPr>
          <p:cNvPr id="3" name="Content Placeholder 2">
            <a:extLst>
              <a:ext uri="{FF2B5EF4-FFF2-40B4-BE49-F238E27FC236}">
                <a16:creationId xmlns:a16="http://schemas.microsoft.com/office/drawing/2014/main" id="{C6A26C3F-8D5A-4F3C-B1A0-8ABEE3FF61D8}"/>
              </a:ext>
            </a:extLst>
          </p:cNvPr>
          <p:cNvSpPr>
            <a:spLocks noGrp="1"/>
          </p:cNvSpPr>
          <p:nvPr>
            <p:ph idx="1"/>
          </p:nvPr>
        </p:nvSpPr>
        <p:spPr/>
        <p:txBody>
          <a:bodyPr>
            <a:normAutofit fontScale="92500" lnSpcReduction="20000"/>
          </a:bodyPr>
          <a:lstStyle/>
          <a:p>
            <a:r>
              <a:rPr lang="en-US" dirty="0"/>
              <a:t>Name</a:t>
            </a:r>
          </a:p>
          <a:p>
            <a:r>
              <a:rPr lang="en-US" dirty="0"/>
              <a:t>Description</a:t>
            </a:r>
          </a:p>
          <a:p>
            <a:r>
              <a:rPr lang="en-US" dirty="0" err="1"/>
              <a:t>Optimal_temp_min</a:t>
            </a:r>
            <a:endParaRPr lang="en-US" dirty="0"/>
          </a:p>
          <a:p>
            <a:r>
              <a:rPr lang="en-US" dirty="0" err="1"/>
              <a:t>Optimal_temp_max</a:t>
            </a:r>
            <a:endParaRPr lang="en-US" dirty="0"/>
          </a:p>
          <a:p>
            <a:r>
              <a:rPr lang="en-US" dirty="0" err="1"/>
              <a:t>Optimal_rainfall</a:t>
            </a:r>
            <a:endParaRPr lang="en-US" dirty="0"/>
          </a:p>
          <a:p>
            <a:r>
              <a:rPr lang="en-US" dirty="0" err="1"/>
              <a:t>Soil_type</a:t>
            </a:r>
            <a:endParaRPr lang="en-US" dirty="0"/>
          </a:p>
          <a:p>
            <a:r>
              <a:rPr lang="en-US" dirty="0" err="1"/>
              <a:t>Growth_period</a:t>
            </a:r>
            <a:endParaRPr lang="en-US" dirty="0"/>
          </a:p>
          <a:p>
            <a:endParaRPr lang="en-ZM" dirty="0"/>
          </a:p>
        </p:txBody>
      </p:sp>
    </p:spTree>
    <p:extLst>
      <p:ext uri="{BB962C8B-B14F-4D97-AF65-F5344CB8AC3E}">
        <p14:creationId xmlns:p14="http://schemas.microsoft.com/office/powerpoint/2010/main" val="120596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961E1-9724-46CC-AD94-94E6E077346D}"/>
              </a:ext>
            </a:extLst>
          </p:cNvPr>
          <p:cNvSpPr>
            <a:spLocks noGrp="1"/>
          </p:cNvSpPr>
          <p:nvPr>
            <p:ph type="title"/>
          </p:nvPr>
        </p:nvSpPr>
        <p:spPr/>
        <p:txBody>
          <a:bodyPr/>
          <a:lstStyle/>
          <a:p>
            <a:r>
              <a:rPr lang="en-US" dirty="0" err="1"/>
              <a:t>EnvironmentData</a:t>
            </a:r>
            <a:endParaRPr lang="en-ZM" dirty="0"/>
          </a:p>
        </p:txBody>
      </p:sp>
      <p:sp>
        <p:nvSpPr>
          <p:cNvPr id="3" name="Content Placeholder 2">
            <a:extLst>
              <a:ext uri="{FF2B5EF4-FFF2-40B4-BE49-F238E27FC236}">
                <a16:creationId xmlns:a16="http://schemas.microsoft.com/office/drawing/2014/main" id="{EF638D9F-F67B-4DCB-B735-155260DB7738}"/>
              </a:ext>
            </a:extLst>
          </p:cNvPr>
          <p:cNvSpPr>
            <a:spLocks noGrp="1"/>
          </p:cNvSpPr>
          <p:nvPr>
            <p:ph idx="1"/>
          </p:nvPr>
        </p:nvSpPr>
        <p:spPr/>
        <p:txBody>
          <a:bodyPr>
            <a:normAutofit fontScale="85000" lnSpcReduction="20000"/>
          </a:bodyPr>
          <a:lstStyle/>
          <a:p>
            <a:r>
              <a:rPr lang="en-US" dirty="0"/>
              <a:t>Temperature</a:t>
            </a:r>
          </a:p>
          <a:p>
            <a:r>
              <a:rPr lang="en-US" dirty="0"/>
              <a:t>Rainfall</a:t>
            </a:r>
          </a:p>
          <a:p>
            <a:r>
              <a:rPr lang="en-US" dirty="0"/>
              <a:t>Humidity</a:t>
            </a:r>
          </a:p>
          <a:p>
            <a:r>
              <a:rPr lang="en-US" dirty="0" err="1"/>
              <a:t>Soil_ph</a:t>
            </a:r>
            <a:endParaRPr lang="en-US" dirty="0"/>
          </a:p>
          <a:p>
            <a:r>
              <a:rPr lang="en-US" dirty="0"/>
              <a:t>Nitrogen</a:t>
            </a:r>
          </a:p>
          <a:p>
            <a:r>
              <a:rPr lang="en-US" dirty="0"/>
              <a:t>Phosphorous </a:t>
            </a:r>
          </a:p>
          <a:p>
            <a:r>
              <a:rPr lang="en-US" dirty="0"/>
              <a:t>Potassium</a:t>
            </a:r>
          </a:p>
          <a:p>
            <a:r>
              <a:rPr lang="en-US" dirty="0" err="1"/>
              <a:t>TimeStamp</a:t>
            </a:r>
            <a:endParaRPr lang="en-ZM" dirty="0"/>
          </a:p>
        </p:txBody>
      </p:sp>
    </p:spTree>
    <p:extLst>
      <p:ext uri="{BB962C8B-B14F-4D97-AF65-F5344CB8AC3E}">
        <p14:creationId xmlns:p14="http://schemas.microsoft.com/office/powerpoint/2010/main" val="1859239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FF3E-1334-4404-A8D8-2393B64C7D5E}"/>
              </a:ext>
            </a:extLst>
          </p:cNvPr>
          <p:cNvSpPr>
            <a:spLocks noGrp="1"/>
          </p:cNvSpPr>
          <p:nvPr>
            <p:ph type="title"/>
          </p:nvPr>
        </p:nvSpPr>
        <p:spPr/>
        <p:txBody>
          <a:bodyPr/>
          <a:lstStyle/>
          <a:p>
            <a:r>
              <a:rPr lang="en-US" dirty="0"/>
              <a:t>Prediction</a:t>
            </a:r>
            <a:endParaRPr lang="en-ZM" dirty="0"/>
          </a:p>
        </p:txBody>
      </p:sp>
      <p:sp>
        <p:nvSpPr>
          <p:cNvPr id="3" name="Content Placeholder 2">
            <a:extLst>
              <a:ext uri="{FF2B5EF4-FFF2-40B4-BE49-F238E27FC236}">
                <a16:creationId xmlns:a16="http://schemas.microsoft.com/office/drawing/2014/main" id="{0ADD8685-BDF9-463F-A9B8-E22A33EAD36B}"/>
              </a:ext>
            </a:extLst>
          </p:cNvPr>
          <p:cNvSpPr>
            <a:spLocks noGrp="1"/>
          </p:cNvSpPr>
          <p:nvPr>
            <p:ph idx="1"/>
          </p:nvPr>
        </p:nvSpPr>
        <p:spPr/>
        <p:txBody>
          <a:bodyPr/>
          <a:lstStyle/>
          <a:p>
            <a:r>
              <a:rPr lang="en-US" dirty="0"/>
              <a:t>Id</a:t>
            </a:r>
          </a:p>
          <a:p>
            <a:r>
              <a:rPr lang="en-US" dirty="0" err="1"/>
              <a:t>Predicted_crop</a:t>
            </a:r>
            <a:endParaRPr lang="en-US" dirty="0"/>
          </a:p>
          <a:p>
            <a:r>
              <a:rPr lang="en-US" dirty="0" err="1"/>
              <a:t>Confidence_score</a:t>
            </a:r>
            <a:endParaRPr lang="en-US" dirty="0"/>
          </a:p>
          <a:p>
            <a:r>
              <a:rPr lang="en-US" dirty="0" err="1"/>
              <a:t>Model_version</a:t>
            </a:r>
            <a:endParaRPr lang="en-US" dirty="0"/>
          </a:p>
          <a:p>
            <a:r>
              <a:rPr lang="en-US" dirty="0"/>
              <a:t>Timestamp</a:t>
            </a:r>
          </a:p>
          <a:p>
            <a:endParaRPr lang="en-ZM" dirty="0"/>
          </a:p>
        </p:txBody>
      </p:sp>
    </p:spTree>
    <p:extLst>
      <p:ext uri="{BB962C8B-B14F-4D97-AF65-F5344CB8AC3E}">
        <p14:creationId xmlns:p14="http://schemas.microsoft.com/office/powerpoint/2010/main" val="155032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B114-DD4D-4FFD-A0EB-1F99ED00B01D}"/>
              </a:ext>
            </a:extLst>
          </p:cNvPr>
          <p:cNvSpPr>
            <a:spLocks noGrp="1"/>
          </p:cNvSpPr>
          <p:nvPr>
            <p:ph type="title"/>
          </p:nvPr>
        </p:nvSpPr>
        <p:spPr/>
        <p:txBody>
          <a:bodyPr/>
          <a:lstStyle/>
          <a:p>
            <a:r>
              <a:rPr lang="en-US" dirty="0" err="1"/>
              <a:t>Reommendation</a:t>
            </a:r>
            <a:endParaRPr lang="en-ZM" dirty="0"/>
          </a:p>
        </p:txBody>
      </p:sp>
      <p:sp>
        <p:nvSpPr>
          <p:cNvPr id="3" name="Content Placeholder 2">
            <a:extLst>
              <a:ext uri="{FF2B5EF4-FFF2-40B4-BE49-F238E27FC236}">
                <a16:creationId xmlns:a16="http://schemas.microsoft.com/office/drawing/2014/main" id="{BF04B2E0-DEA1-4E87-8D36-BCBD81BF21A9}"/>
              </a:ext>
            </a:extLst>
          </p:cNvPr>
          <p:cNvSpPr>
            <a:spLocks noGrp="1"/>
          </p:cNvSpPr>
          <p:nvPr>
            <p:ph idx="1"/>
          </p:nvPr>
        </p:nvSpPr>
        <p:spPr/>
        <p:txBody>
          <a:bodyPr/>
          <a:lstStyle/>
          <a:p>
            <a:r>
              <a:rPr lang="en-US" dirty="0"/>
              <a:t>Crop</a:t>
            </a:r>
          </a:p>
          <a:p>
            <a:r>
              <a:rPr lang="en-US" dirty="0" err="1"/>
              <a:t>Planting_month</a:t>
            </a:r>
            <a:endParaRPr lang="en-US" dirty="0"/>
          </a:p>
          <a:p>
            <a:r>
              <a:rPr lang="en-US" dirty="0" err="1"/>
              <a:t>Fertilizer_recommendation</a:t>
            </a:r>
            <a:endParaRPr lang="en-US" dirty="0"/>
          </a:p>
          <a:p>
            <a:r>
              <a:rPr lang="en-US" dirty="0" err="1"/>
              <a:t>Irrigation_advice</a:t>
            </a:r>
            <a:endParaRPr lang="en-US" dirty="0"/>
          </a:p>
          <a:p>
            <a:r>
              <a:rPr lang="en-US" dirty="0" err="1"/>
              <a:t>Pest_warning</a:t>
            </a:r>
            <a:r>
              <a:rPr lang="en-US"/>
              <a:t> </a:t>
            </a:r>
          </a:p>
        </p:txBody>
      </p:sp>
    </p:spTree>
    <p:extLst>
      <p:ext uri="{BB962C8B-B14F-4D97-AF65-F5344CB8AC3E}">
        <p14:creationId xmlns:p14="http://schemas.microsoft.com/office/powerpoint/2010/main" val="2821083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42</TotalTime>
  <Words>363</Words>
  <Application>Microsoft Office PowerPoint</Application>
  <PresentationFormat>Widescreen</PresentationFormat>
  <Paragraphs>84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Corbel</vt:lpstr>
      <vt:lpstr>Parallax</vt:lpstr>
      <vt:lpstr>AgriPal</vt:lpstr>
      <vt:lpstr>About Me</vt:lpstr>
      <vt:lpstr>About AgriPal</vt:lpstr>
      <vt:lpstr>DOMAIN CLASSES</vt:lpstr>
      <vt:lpstr>Conceptual Domain Model</vt:lpstr>
      <vt:lpstr>TEXTUAL EXPLAINATION OF DOMAIN MODEL</vt:lpstr>
      <vt:lpstr>Classes and Attributes</vt:lpstr>
      <vt:lpstr>User</vt:lpstr>
      <vt:lpstr>Farm</vt:lpstr>
      <vt:lpstr>Location</vt:lpstr>
      <vt:lpstr>Crop</vt:lpstr>
      <vt:lpstr>EnvironmentData</vt:lpstr>
      <vt:lpstr>Prediction</vt:lpstr>
      <vt:lpstr>Reommendation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AgriPal</dc:title>
  <dc:creator>Blessing</dc:creator>
  <cp:lastModifiedBy>Blessing</cp:lastModifiedBy>
  <cp:revision>3</cp:revision>
  <dcterms:created xsi:type="dcterms:W3CDTF">2026-03-16T21:55:37Z</dcterms:created>
  <dcterms:modified xsi:type="dcterms:W3CDTF">2026-03-16T22:38:04Z</dcterms:modified>
</cp:coreProperties>
</file>